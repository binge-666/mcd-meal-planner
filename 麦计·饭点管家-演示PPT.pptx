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开场：一句话——先看现在几点，再决定这顿吃多少。右侧是产品生成的真实饭签。评委可随时打开在线链接免 Token 体验。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差异化：同类从热量/预算切入，麦计把「时间」作为第一入口。链路：时间→时段→剩余额度→门店→配餐→饭签。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打开静态页就是这个画面：时段识别为午餐、建议这顿 630 kcal，门店、方案全部就绪。地图点城市可切 20 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地图数据由 scripts/build-cities.mjs 抓取 20 城门店叠加 GeoJSON 生成；诚实标注「收录门店数」。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算法是确定性打分而非 LLM 口算：结果可复现、可解释。每组方案的展示价是 calculate-price 返回的实付价，不是菜单价相加。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演示动作：点「生成饭签」弹出这张卡，可保存图片。把推荐结果变成可分享的社交产物。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链路：原生前端 → Express → MCP SDK（Streamable HTTP + Bearer）→ 麦当劳 MCP。7 个核心工具覆盖时段/门店/菜单/营养/券/价格/活动，分级缓存控制调用量。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现场增量：MCP 调用轨迹面板。图中是本地实时版真实调用记录——14 次、100% 成功率、平均 269ms，七个工具全部命中。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双模式：静态快照版免 Token 上线 GitHub Pages；实时版本地 npm start 直连 MCP。三条底线：匹配不到不推荐、没菜单不配餐、展示价用实付价。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收尾：口号 + 全部入口。交付物：实时 H5、单文件静态 demo、可安装 MCP Skill、Docker/Render 部署、开发记录。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749808"/>
            <a:ext cx="4242816" cy="5266944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9525">
            <a:solidFill>
              <a:srgbClr val="E8DFCE"/>
            </a:solidFill>
            <a:prstDash val="solid"/>
          </a:ln>
          <a:effectLst>
            <a:outerShdw sx="100000" sy="100000" kx="0" ky="0" algn="bl" rotWithShape="0" blurRad="88900" dist="38100" dir="2700000">
              <a:srgbClr val="3A2417">
                <a:alpha val="22000"/>
              </a:srgbClr>
            </a:outerShdw>
          </a:effectLst>
        </p:spPr>
      </p:sp>
      <p:pic>
        <p:nvPicPr>
          <p:cNvPr id="3" name="Image 0" descr="D:/SCAN/1024/MDL/ppt/assets/05-ti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4072" y="822960"/>
            <a:ext cx="4096512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0584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C7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麦当劳中国 MCP · 参赛作品｜用餐赛道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58368" y="1389888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B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麦计 · 饭点管家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85800" y="243230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500" kern="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MCD MEAL PLANNER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299923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C7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先看现在几点，再决定这顿吃多少。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85800" y="361188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8B7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早餐、午餐、下午茶、晚餐、夜宵五个时段都接得住；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8B7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门店、菜单、营养、优惠券、价格全部来自麦当劳 MCP。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5800" y="48920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FB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在线体验（免 Token）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binge-666.github.io/mcd-meal-planner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FB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仓库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github.com/Binge-666/mcd-meal-planner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参赛作品，非麦当劳官方产品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定位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为什么是「饭点管家」—— 把时间作为第一入口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用户真正的第一句话，往往不是热量和预算：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「现在这个点，我该吃点什么？」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CFBF7"/>
          </a:solidFill>
          <a:ln w="12700">
            <a:solidFill>
              <a:srgbClr val="E5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7121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同类作品的入口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热量、预算 —— 从「数字」出发，先让用户填表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45352" y="274320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FF0C2"/>
          </a:solidFill>
          <a:ln w="15875">
            <a:solidFill>
              <a:srgbClr val="FFC72C"/>
            </a:solidFill>
            <a:prstDash val="solid"/>
          </a:ln>
          <a:effectLst>
            <a:outerShdw sx="100000" sy="100000" kx="0" ky="0" algn="bl" rotWithShape="0" blurRad="88900" dist="38100" dir="2700000">
              <a:srgbClr val="3A2417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73952" y="287121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麦计的入口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—— 从「现在」出发，先替用户把这一顿想好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4041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一条链路跑通「饭点决策」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480560"/>
            <a:ext cx="1700784" cy="969264"/>
          </a:xfrm>
          <a:prstGeom prst="roundRect">
            <a:avLst>
              <a:gd name="adj" fmla="val 6604"/>
            </a:avLst>
          </a:prstGeom>
          <a:solidFill>
            <a:srgbClr val="F8F0DF"/>
          </a:solidFill>
          <a:ln w="12700">
            <a:solidFill>
              <a:srgbClr val="E8DF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572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4864608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现在几点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85416" y="4754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404872" y="4480560"/>
            <a:ext cx="1700784" cy="969264"/>
          </a:xfrm>
          <a:prstGeom prst="roundRect">
            <a:avLst>
              <a:gd name="adj" fmla="val 6604"/>
            </a:avLst>
          </a:prstGeom>
          <a:solidFill>
            <a:srgbClr val="F8F0DF"/>
          </a:solidFill>
          <a:ln w="12700">
            <a:solidFill>
              <a:srgbClr val="E8DF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4572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496312" y="4864608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该吃哪一顿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87368" y="4754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306824" y="4480560"/>
            <a:ext cx="1700784" cy="969264"/>
          </a:xfrm>
          <a:prstGeom prst="roundRect">
            <a:avLst>
              <a:gd name="adj" fmla="val 6604"/>
            </a:avLst>
          </a:prstGeom>
          <a:solidFill>
            <a:srgbClr val="F8F0DF"/>
          </a:solidFill>
          <a:ln w="12700">
            <a:solidFill>
              <a:srgbClr val="E8DF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4572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98264" y="4864608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还剩多少热量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89320" y="4754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208776" y="4480560"/>
            <a:ext cx="1700784" cy="969264"/>
          </a:xfrm>
          <a:prstGeom prst="roundRect">
            <a:avLst>
              <a:gd name="adj" fmla="val 6604"/>
            </a:avLst>
          </a:prstGeom>
          <a:solidFill>
            <a:srgbClr val="F8F0DF"/>
          </a:solidFill>
          <a:ln w="12700">
            <a:solidFill>
              <a:srgbClr val="E8DF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6792" y="4572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00216" y="4864608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附近哪家店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91272" y="4754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110728" y="4480560"/>
            <a:ext cx="1700784" cy="969264"/>
          </a:xfrm>
          <a:prstGeom prst="roundRect">
            <a:avLst>
              <a:gd name="adj" fmla="val 6604"/>
            </a:avLst>
          </a:prstGeom>
          <a:solidFill>
            <a:srgbClr val="F8F0DF"/>
          </a:solidFill>
          <a:ln w="12700">
            <a:solidFill>
              <a:srgbClr val="E8DF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38744" y="4572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02168" y="4864608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这顿怎么点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793224" y="475488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0012680" y="4480560"/>
            <a:ext cx="1700784" cy="969264"/>
          </a:xfrm>
          <a:prstGeom prst="roundRect">
            <a:avLst>
              <a:gd name="adj" fmla="val 6604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88900" dist="38100" dir="2700000">
              <a:srgbClr val="3A2417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140696" y="4572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7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104120" y="4864608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生成今日饭签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麦计 · 饭点管家｜基于麦当劳中国 MCP · 参赛作品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产品主界面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秒体验 —— 打开即用，免 Token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242048" cy="4581144"/>
          </a:xfrm>
          <a:prstGeom prst="roundRect">
            <a:avLst>
              <a:gd name="adj" fmla="val 1397"/>
            </a:avLst>
          </a:prstGeom>
          <a:solidFill>
            <a:srgbClr val="FFFFFF"/>
          </a:solidFill>
          <a:ln w="9525">
            <a:solidFill>
              <a:srgbClr val="E8DFCE"/>
            </a:solidFill>
            <a:prstDash val="solid"/>
          </a:ln>
          <a:effectLst>
            <a:outerShdw sx="100000" sy="100000" kx="0" ky="0" algn="bl" rotWithShape="0" blurRad="88900" dist="38100" dir="2700000">
              <a:srgbClr val="3A2417">
                <a:alpha val="22000"/>
              </a:srgbClr>
            </a:outerShdw>
          </a:effectLst>
        </p:spPr>
      </p:sp>
      <p:pic>
        <p:nvPicPr>
          <p:cNvPr id="5" name="Image 0" descr="D:/SCAN/1024/MDL/ppt/assets/01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54480"/>
            <a:ext cx="7095744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2440" y="15727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城 · 100 家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8092440" y="19933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真实门店，中国地图点选城市即切换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92440" y="26883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 个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092440" y="3108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可配餐单品（厦门中山路菜单快照）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38039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 Token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8092440" y="42245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免安装、不起服务，双击即开 · 已上线 GitHub Pages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92440" y="491947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组方案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8092440" y="534009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打开即按当前时间自动配好这一顿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92440" y="598017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「现在几点」用本机时间实时计算，早餐 / 夜宵打开同样成立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麦计 · 饭点管家｜基于麦当劳中国 MCP · 参赛作品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全国门店地图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城 100 家真实门店，点城市即切换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242048" cy="4581144"/>
          </a:xfrm>
          <a:prstGeom prst="roundRect">
            <a:avLst>
              <a:gd name="adj" fmla="val 1397"/>
            </a:avLst>
          </a:prstGeom>
          <a:solidFill>
            <a:srgbClr val="FFFFFF"/>
          </a:solidFill>
          <a:ln w="9525">
            <a:solidFill>
              <a:srgbClr val="E8DFCE"/>
            </a:solidFill>
            <a:prstDash val="solid"/>
          </a:ln>
          <a:effectLst>
            <a:outerShdw sx="100000" sy="100000" kx="0" ky="0" algn="bl" rotWithShape="0" blurRad="88900" dist="38100" dir="2700000">
              <a:srgbClr val="3A2417">
                <a:alpha val="22000"/>
              </a:srgbClr>
            </a:outerShdw>
          </a:effectLst>
        </p:spPr>
      </p:sp>
      <p:pic>
        <p:nvPicPr>
          <p:cNvPr id="5" name="Image 0" descr="D:/SCAN/1024/MDL/ppt/assets/02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54480"/>
            <a:ext cx="7095744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2440" y="1600200"/>
            <a:ext cx="3611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中国地图按城市标注收录门店数，轻量 SVG 离线可用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点城市 → 门店列表联动：真实营业时间、距离、营业状态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门店与菜单全部来自 query-nearby-stores / query-meals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静态版收录 20 城快照；实时版支持任意城市与商圈搜索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092440" y="489204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8F0DF"/>
          </a:solidFill>
          <a:ln/>
        </p:spPr>
      </p:sp>
      <p:sp>
        <p:nvSpPr>
          <p:cNvPr id="8" name="Text 5"/>
          <p:cNvSpPr/>
          <p:nvPr/>
        </p:nvSpPr>
        <p:spPr>
          <a:xfrm>
            <a:off x="8275320" y="50292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快照如实标注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每城收录默认商圈前 5 家；地图标记用城市中心点，页面写明「收录门店数」而非全国总数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麦计 · 饭点管家｜基于麦当劳中国 MCP · 参赛作品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配餐算法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确定性配餐 —— 不靠大模型口算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983480" y="1536192"/>
            <a:ext cx="6729984" cy="4261104"/>
          </a:xfrm>
          <a:prstGeom prst="roundRect">
            <a:avLst>
              <a:gd name="adj" fmla="val 1502"/>
            </a:avLst>
          </a:prstGeom>
          <a:solidFill>
            <a:srgbClr val="FFFFFF"/>
          </a:solidFill>
          <a:ln w="9525">
            <a:solidFill>
              <a:srgbClr val="E8DFCE"/>
            </a:solidFill>
            <a:prstDash val="solid"/>
          </a:ln>
          <a:effectLst>
            <a:outerShdw sx="100000" sy="100000" kx="0" ky="0" algn="bl" rotWithShape="0" blurRad="88900" dist="38100" dir="2700000">
              <a:srgbClr val="3A2417">
                <a:alpha val="22000"/>
              </a:srgbClr>
            </a:outerShdw>
          </a:effectLst>
        </p:spPr>
      </p:sp>
      <p:pic>
        <p:nvPicPr>
          <p:cNvPr id="5" name="Image 0" descr="D:/SCAN/1024/MDL/ppt/assets/03-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632" y="1609344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组合空间：主餐 × 饮品 × 小食 × 甜品，限制主餐轮换避免雷同</a:t>
            </a:r>
            <a:endParaRPr lang="en-US" sz="1350" dirty="0"/>
          </a:p>
          <a:p>
            <a:pPr marL="152400" indent="-1524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打分排序：热量差 + 实付价 + 蛋白质，重点命中 ±40 kcal</a:t>
            </a:r>
            <a:endParaRPr lang="en-US" sz="1350" dirty="0"/>
          </a:p>
          <a:p>
            <a:pPr marL="152400" indent="-1524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硬过滤：口味 10 选多（辣 / 鸡 / 牛 / 咖啡 / 零糖 …）· 预算 30 / 40 / 50 元</a:t>
            </a:r>
            <a:endParaRPr lang="en-US" sz="1350" dirty="0"/>
          </a:p>
          <a:p>
            <a:pPr marL="152400" indent="-1524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预算无解时保留最接近方案，并明确标出超出金额</a:t>
            </a:r>
            <a:endParaRPr lang="en-US" sz="1350" dirty="0"/>
          </a:p>
          <a:p>
            <a:pPr marL="152400" indent="-1524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纯函数实现（lib/planner.mjs），Node 与浏览器共用同一结果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5029200"/>
            <a:ext cx="4206240" cy="1051560"/>
          </a:xfrm>
          <a:prstGeom prst="roundRect">
            <a:avLst>
              <a:gd name="adj" fmla="val 6087"/>
            </a:avLst>
          </a:prstGeom>
          <a:solidFill>
            <a:srgbClr val="FFF0C2"/>
          </a:solidFill>
          <a:ln w="15875">
            <a:solidFill>
              <a:srgbClr val="FFC72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15721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每组都过 calculate-price 实价核验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示例：目标 630 kcal → TOP1 正中 630 kcal · 蛋白质 38g · ¥38.9 到店自取实付价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麦计 · 饭点管家｜基于麦当劳中国 MCP · 参赛作品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今日饭签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把算法结果变成一张可分享的「今日饭签」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242048" cy="4581144"/>
          </a:xfrm>
          <a:prstGeom prst="roundRect">
            <a:avLst>
              <a:gd name="adj" fmla="val 1397"/>
            </a:avLst>
          </a:prstGeom>
          <a:solidFill>
            <a:srgbClr val="FFFFFF"/>
          </a:solidFill>
          <a:ln w="9525">
            <a:solidFill>
              <a:srgbClr val="E8DFCE"/>
            </a:solidFill>
            <a:prstDash val="solid"/>
          </a:ln>
          <a:effectLst>
            <a:outerShdw sx="100000" sy="100000" kx="0" ky="0" algn="bl" rotWithShape="0" blurRad="88900" dist="38100" dir="2700000">
              <a:srgbClr val="3A2417">
                <a:alpha val="22000"/>
              </a:srgbClr>
            </a:outerShdw>
          </a:effectLst>
        </p:spPr>
      </p:sp>
      <p:pic>
        <p:nvPicPr>
          <p:cNvPr id="5" name="Image 0" descr="D:/SCAN/1024/MDL/ppt/assets/04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54480"/>
            <a:ext cx="7095744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2440" y="1691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1080 × 1350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092440" y="207568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Canvas 生成小红书比例分享卡，一键保存转发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92440" y="28620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一签一餐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092440" y="32461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 · 热量 · 搭配明细 · 实付价 · 推荐理由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403250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零依赖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092440" y="441655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public/card.js 纯前端绘制，静态版同样可用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518464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MCP 推荐都能落成一张饭签，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算法结果直接变成社交产物。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麦计 · 饭点管家｜基于麦当劳中国 MCP · 参赛作品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MCP 接入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 MCP 工具，串起完整饭点链路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468880" cy="914400"/>
          </a:xfrm>
          <a:prstGeom prst="roundRect">
            <a:avLst>
              <a:gd name="adj" fmla="val 7000"/>
            </a:avLst>
          </a:prstGeom>
          <a:solidFill>
            <a:srgbClr val="FCFBF7"/>
          </a:solidFill>
          <a:ln w="12700">
            <a:solidFill>
              <a:srgbClr val="E5DC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0934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 H5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568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HTML / CSS / JS · 无构建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71907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83280" y="1481328"/>
            <a:ext cx="2468880" cy="914400"/>
          </a:xfrm>
          <a:prstGeom prst="roundRect">
            <a:avLst>
              <a:gd name="adj" fmla="val 7000"/>
            </a:avLst>
          </a:prstGeom>
          <a:solidFill>
            <a:srgbClr val="FCFBF7"/>
          </a:solidFill>
          <a:ln w="12700">
            <a:solidFill>
              <a:srgbClr val="E5DC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60934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 API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19568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server.mjs · /api/* 接口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171907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0" y="1481328"/>
            <a:ext cx="2468880" cy="914400"/>
          </a:xfrm>
          <a:prstGeom prst="roundRect">
            <a:avLst>
              <a:gd name="adj" fmla="val 7000"/>
            </a:avLst>
          </a:prstGeom>
          <a:solidFill>
            <a:srgbClr val="FCFBF7"/>
          </a:solidFill>
          <a:ln w="12700">
            <a:solidFill>
              <a:srgbClr val="E5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60934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客户端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19568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lib/mcp.mjs · 调用 · 缓存 · 日志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0" y="171907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052560" y="1481328"/>
            <a:ext cx="2468880" cy="914400"/>
          </a:xfrm>
          <a:prstGeom prst="roundRect">
            <a:avLst>
              <a:gd name="adj" fmla="val 7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88900" dist="38100" dir="2700000">
              <a:srgbClr val="3A2417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62288" y="160934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麦当劳中国 MCP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0" y="19568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mcp.mcd.cn · Streamable HTTP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7614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调用的核心工具（MCP 端共 35 个工具可用）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109728" cy="1097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1821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now-time-info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90672" y="318211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判断饭点时段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767328"/>
            <a:ext cx="109728" cy="1097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36576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query-nearby-stores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090672" y="36576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搜附近到店自取门店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242816"/>
            <a:ext cx="109728" cy="1097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1330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query-meals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090672" y="413308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门店在售菜单与分类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718304"/>
            <a:ext cx="109728" cy="1097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460857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list-nutrition-foods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090672" y="460857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160 条营养数据匹配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3291840"/>
            <a:ext cx="109728" cy="1097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3" name="Text 31"/>
          <p:cNvSpPr/>
          <p:nvPr/>
        </p:nvSpPr>
        <p:spPr>
          <a:xfrm>
            <a:off x="6455664" y="31821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query-store-coupons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759952" y="318211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门店可用优惠券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3767328"/>
            <a:ext cx="109728" cy="1097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36576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calculate-price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759952" y="36576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每组组合实付核价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4242816"/>
            <a:ext cx="109728" cy="1097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9" name="Text 37"/>
          <p:cNvSpPr/>
          <p:nvPr/>
        </p:nvSpPr>
        <p:spPr>
          <a:xfrm>
            <a:off x="6455664" y="41330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campaign-calendar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759952" y="413308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当月活动日历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5468112"/>
            <a:ext cx="12188952" cy="685800"/>
          </a:xfrm>
          <a:prstGeom prst="rect">
            <a:avLst/>
          </a:prstGeom>
          <a:solidFill>
            <a:srgbClr val="F8F0DF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546811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 TTL：门店 / 菜单 10 分钟 · 营养 60 分钟 · 优惠券 5 分钟 · 价格 3 分钟　｜　Token 只存服务端环境变量，前端与仓库零泄露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麦计 · 饭点管家｜基于麦当劳中国 MCP · 参赛作品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真实性证据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调用轨迹 —— 真实调用，有据可查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949440" cy="4398264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E8DFCE"/>
            </a:solidFill>
            <a:prstDash val="solid"/>
          </a:ln>
          <a:effectLst>
            <a:outerShdw sx="100000" sy="100000" kx="0" ky="0" algn="bl" rotWithShape="0" blurRad="88900" dist="38100" dir="2700000">
              <a:srgbClr val="3A2417">
                <a:alpha val="22000"/>
              </a:srgbClr>
            </a:outerShdw>
          </a:effectLst>
        </p:spPr>
      </p:sp>
      <p:pic>
        <p:nvPicPr>
          <p:cNvPr id="5" name="Image 0" descr="D:/SCAN/1024/MDL/ppt/assets/08-mcp-trace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54480"/>
            <a:ext cx="6803136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0" y="15544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9646920" y="1755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次真实调用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63840" y="23042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9646920" y="2505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成功率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63840" y="30540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269 ms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9646920" y="32552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平均耗时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863840" y="397764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callMcp 全量计时 + 环形日志（最近 50 条）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 /api/mcp-log 返回 JSON 汇总，面板每 2 秒刷新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只记录工具名 / 耗时 / 结果数，不记录 Token 与响应体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静态版自动降级为「快照模式」提示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863840" y="60350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来源：本地实时版实测 · 2026-10-25 · 覆盖全部 7 个核心工具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麦计 · 饭点管家｜基于麦当劳中国 MCP · 参赛作品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数据诚实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 / 快照双模式，三条不编数据的底线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4828032" cy="3072384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8DFCE"/>
            </a:solidFill>
            <a:prstDash val="solid"/>
          </a:ln>
          <a:effectLst>
            <a:outerShdw sx="100000" sy="100000" kx="0" ky="0" algn="bl" rotWithShape="0" blurRad="88900" dist="38100" dir="2700000">
              <a:srgbClr val="3A2417">
                <a:alpha val="22000"/>
              </a:srgbClr>
            </a:outerShdw>
          </a:effectLst>
        </p:spPr>
      </p:sp>
      <p:pic>
        <p:nvPicPr>
          <p:cNvPr id="5" name="Image 0" descr="D:/SCAN/1024/MDL/ppt/assets/09-live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17904"/>
            <a:ext cx="4681728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96712" y="1444752"/>
            <a:ext cx="4828032" cy="3072384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8DFCE"/>
            </a:solidFill>
            <a:prstDash val="solid"/>
          </a:ln>
          <a:effectLst>
            <a:outerShdw sx="100000" sy="100000" kx="0" ky="0" algn="bl" rotWithShape="0" blurRad="88900" dist="38100" dir="2700000">
              <a:srgbClr val="3A2417">
                <a:alpha val="22000"/>
              </a:srgbClr>
            </a:outerShdw>
          </a:effectLst>
        </p:spPr>
      </p:sp>
      <p:pic>
        <p:nvPicPr>
          <p:cNvPr id="7" name="Image 1" descr="D:/SCAN/1024/MDL/ppt/assets/06-gu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864" y="1517904"/>
            <a:ext cx="4681728" cy="2926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4581144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实时版 · 「麦当劳 MCP 已连接」，菜单价格实时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742432" y="4581144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静态版 · 切到北京点配餐，被「菜单守卫」拦下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0" y="4974336"/>
            <a:ext cx="12188952" cy="512064"/>
          </a:xfrm>
          <a:prstGeom prst="rect">
            <a:avLst/>
          </a:prstGeom>
          <a:solidFill>
            <a:srgbClr val="F8F0DF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4974336"/>
            <a:ext cx="11091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守卫提示原文：「静态演示只烘了厦门中山路门店的菜单；切换回厦门即可配餐，实时版支持全国门店。」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5614416"/>
            <a:ext cx="3602736" cy="713232"/>
          </a:xfrm>
          <a:prstGeom prst="roundRect">
            <a:avLst>
              <a:gd name="adj" fmla="val 7692"/>
            </a:avLst>
          </a:prstGeom>
          <a:solidFill>
            <a:srgbClr val="FCFBF7"/>
          </a:solidFill>
          <a:ln w="12700">
            <a:solidFill>
              <a:srgbClr val="E5DCC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13232" y="5687568"/>
            <a:ext cx="32735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营养匹配不到 → 不推荐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112 条菜单匹配出 39 个可配单品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297680" y="5614416"/>
            <a:ext cx="3602736" cy="713232"/>
          </a:xfrm>
          <a:prstGeom prst="roundRect">
            <a:avLst>
              <a:gd name="adj" fmla="val 7692"/>
            </a:avLst>
          </a:prstGeom>
          <a:solidFill>
            <a:srgbClr val="FCFBF7"/>
          </a:solidFill>
          <a:ln w="12700">
            <a:solidFill>
              <a:srgbClr val="E5DCC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462272" y="5687568"/>
            <a:ext cx="32735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没有菜单 → 不配餐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守卫拦截并说明原因，不编造价格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46720" y="5614416"/>
            <a:ext cx="3602736" cy="713232"/>
          </a:xfrm>
          <a:prstGeom prst="roundRect">
            <a:avLst>
              <a:gd name="adj" fmla="val 7692"/>
            </a:avLst>
          </a:prstGeom>
          <a:solidFill>
            <a:srgbClr val="FCFBF7"/>
          </a:solidFill>
          <a:ln w="12700">
            <a:solidFill>
              <a:srgbClr val="E5DCC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11312" y="5687568"/>
            <a:ext cx="32735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展示价 = 实付价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C7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calculate-price 核价，失败时回退并标注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麦计 · 饭点管家｜基于麦当劳中国 MCP · 参赛作品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1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1554480"/>
            <a:ext cx="2706624" cy="3346704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9525">
            <a:solidFill>
              <a:srgbClr val="E8DFCE"/>
            </a:solidFill>
            <a:prstDash val="solid"/>
          </a:ln>
          <a:effectLst>
            <a:outerShdw sx="100000" sy="100000" kx="0" ky="0" algn="bl" rotWithShape="0" blurRad="88900" dist="38100" dir="2700000">
              <a:srgbClr val="3A2417">
                <a:alpha val="22000"/>
              </a:srgbClr>
            </a:outerShdw>
          </a:effectLst>
        </p:spPr>
      </p:sp>
      <p:pic>
        <p:nvPicPr>
          <p:cNvPr id="3" name="Image 0" descr="D:/SCAN/1024/MDL/ppt/assets/05-ti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2" y="1627632"/>
            <a:ext cx="256032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515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C7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参赛交付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58368" y="144475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B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把饭点，安排明白。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85800" y="239572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8B7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麦计 · 饭点管家 ｜ MCD MEAL PLANNER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31546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在线体验（免 Token）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154680" y="3154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binge-666.github.io/mcd-meal-planner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3611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仓库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154680" y="36118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github.com/Binge-666/mcd-meal-planner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5800" y="4069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本地实时版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154680" y="40690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BC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MCD_TOKEN=&lt;你的 Token&gt; · npm start → localhost:3000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13232" y="5138928"/>
            <a:ext cx="1691640" cy="502920"/>
          </a:xfrm>
          <a:prstGeom prst="roundRect">
            <a:avLst>
              <a:gd name="adj" fmla="val 47273"/>
            </a:avLst>
          </a:prstGeom>
          <a:solidFill>
            <a:srgbClr val="3A2417"/>
          </a:solidFill>
          <a:ln w="12700">
            <a:solidFill>
              <a:srgbClr val="5A3F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" y="5138928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实时版 H5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606040" y="5138928"/>
            <a:ext cx="2057400" cy="502920"/>
          </a:xfrm>
          <a:prstGeom prst="roundRect">
            <a:avLst>
              <a:gd name="adj" fmla="val 47273"/>
            </a:avLst>
          </a:prstGeom>
          <a:solidFill>
            <a:srgbClr val="3A2417"/>
          </a:solidFill>
          <a:ln w="12700">
            <a:solidFill>
              <a:srgbClr val="5A3F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79192" y="5138928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单文件静态 Demo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864608" y="5138928"/>
            <a:ext cx="1463040" cy="502920"/>
          </a:xfrm>
          <a:prstGeom prst="roundRect">
            <a:avLst>
              <a:gd name="adj" fmla="val 47273"/>
            </a:avLst>
          </a:prstGeom>
          <a:solidFill>
            <a:srgbClr val="3A2417"/>
          </a:solidFill>
          <a:ln w="12700">
            <a:solidFill>
              <a:srgbClr val="5A3F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5138928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Skill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528816" y="5138928"/>
            <a:ext cx="2423160" cy="502920"/>
          </a:xfrm>
          <a:prstGeom prst="roundRect">
            <a:avLst>
              <a:gd name="adj" fmla="val 47273"/>
            </a:avLst>
          </a:prstGeom>
          <a:solidFill>
            <a:srgbClr val="3A2417"/>
          </a:solidFill>
          <a:ln w="12700">
            <a:solidFill>
              <a:srgbClr val="5A3F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01968" y="513892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/ Render 部署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153144" y="5138928"/>
            <a:ext cx="2377440" cy="502920"/>
          </a:xfrm>
          <a:prstGeom prst="roundRect">
            <a:avLst>
              <a:gd name="adj" fmla="val 47273"/>
            </a:avLst>
          </a:prstGeom>
          <a:solidFill>
            <a:srgbClr val="3A2417"/>
          </a:solidFill>
          <a:ln w="12700">
            <a:solidFill>
              <a:srgbClr val="5A3F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226296" y="513892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开发记录 workbuddy.md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85800" y="6382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参赛作品，非麦当劳官方产品 · 营养数据仅供参考 · 实际购买请前往麦当劳官方渠道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麦计·饭点管家 · 演示</dc:title>
  <dc:subject>PptxGenJS Presentation</dc:subject>
  <dc:creator>Binge-666</dc:creator>
  <cp:lastModifiedBy>Binge-666</cp:lastModifiedBy>
  <cp:revision>1</cp:revision>
  <dcterms:created xsi:type="dcterms:W3CDTF">2026-10-25T03:09:43Z</dcterms:created>
  <dcterms:modified xsi:type="dcterms:W3CDTF">2026-10-25T03:09:43Z</dcterms:modified>
</cp:coreProperties>
</file>